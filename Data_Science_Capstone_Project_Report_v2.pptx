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05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Science Capstone Project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18120" y="10972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SpaceX Falcon 9 First Stage Landing Prediction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47104"/>
            <a:ext cx="6949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Repository: https://github.com/skrakibulislamrahat/coursera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6547104"/>
            <a:ext cx="4023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IBM Applied Data Science Capstone submission deck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krakibulislamrahat/coursera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krakibulislamrahat/coursera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krakibulislamrahat/coursera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krakibulislamrahat/coursera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rakibulislamrahat/coursera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krakibulislamrahat/coursera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68680"/>
            <a:ext cx="6400800" cy="5166360"/>
          </a:xfrm>
          <a:prstGeom prst="roundRect">
            <a:avLst>
              <a:gd name="adj" fmla="val 14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Assignment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Science Capstone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FE"/>
                </a:solidFill>
              </a:rPr>
              <a:t>SpaceX Falcon 9 First Stage Landing Prediction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Applied data science workflow covering API collection, web scraping, data wrangling, EDA, SQL analysis, map-based visual analytics, dashboard design, and landing-success prediction.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4069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GitHub repository</a:t>
            </a:r>
            <a:endParaRPr lang="en-US" sz="11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713232" y="43159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https://github.com/skrakibulislamrahat/coursera</a:t>
            </a:r>
            <a:endParaRPr lang="en-US" sz="1400" dirty="0"/>
          </a:p>
        </p:txBody>
      </p:sp>
      <p:pic>
        <p:nvPicPr>
          <p:cNvPr id="8" name="Image 0" descr="/mnt/data/capstone_build/assets/rep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97764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4892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Submission PDF prepared using the repository above and the uploaded project assets.</a:t>
            </a:r>
            <a:endParaRPr lang="en-US" sz="1050" dirty="0"/>
          </a:p>
        </p:txBody>
      </p:sp>
      <p:pic>
        <p:nvPicPr>
          <p:cNvPr id="10" name="Image 1" descr="/mnt/data/9688e608-f5ff-47c5-95f9-880a90e514e0.png">    </p:cNvPr>
          <p:cNvPicPr>
            <a:picLocks noChangeAspect="1"/>
          </p:cNvPicPr>
          <p:nvPr/>
        </p:nvPicPr>
        <p:blipFill>
          <a:blip r:embed="rId3"/>
          <a:srcRect l="23647" r="23647" t="0" b="0"/>
          <a:stretch/>
        </p:blipFill>
        <p:spPr>
          <a:xfrm>
            <a:off x="7132320" y="987552"/>
            <a:ext cx="4572000" cy="4892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59436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Repository snapshot showing uploaded Python files and README.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Capstone objective: predict first-stage landing success and communicate the full analytics workflow in a business-friendly format.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72768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824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011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90 Falcon 9 launch records with mission date, payload, orbit, launch site, booster reuse fields, landing pad, and site coordinates.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80360" y="1572768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6824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Collection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0" y="1901952"/>
            <a:ext cx="2011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Used API-style structured retrieval plus web-scraped mission context, then standardized the merged launch table for analysis.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5780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1572768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6824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EDA + SQL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1901952"/>
            <a:ext cx="2011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Combined visual summaries and SQL checks to quantify launch concentration, orbit mix, success rate, and landing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572768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6824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Best 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1901952"/>
            <a:ext cx="2011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Logistic Regression, SVM, and Decision Tree each reached 88.9% accuracy on the holdout set; Logistic Regression was selected for interpretability.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7406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3101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61188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Overall landing success rate in the working dataset is 66.7%, and the yearly trend shows clear improvement after early missions.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</a:rPr>
              <a:t>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CCAFS SLC 40 contributes the largest launch volume (55 launches), while GTO is the most common orbit category (27 launches).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</a:rPr>
              <a:t>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Successful drone-ship landings (ASDS) account for 41 missions, highlighting the importance of landing configuration in the business problem.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</a:rPr>
              <a:t>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Payload mass matters, but site, orbit, reuse history, and temporal maturity appear more informative than payload alone.</a:t>
            </a:r>
            <a:endParaRPr lang="en-US" sz="1200" dirty="0"/>
          </a:p>
        </p:txBody>
      </p:sp>
      <p:pic>
        <p:nvPicPr>
          <p:cNvPr id="23" name="Image 0" descr="/mnt/data/capstone_build/assets/success_by_y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345180"/>
            <a:ext cx="3200400" cy="2133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and Project Background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Reusable rockets only lower launch costs when first-stage recovery becomes repeatable and predictable.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0992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Problem statement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29384"/>
            <a:ext cx="25146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Estimate whether a Falcon 9 first stage will land successfully and explain which launch-context variables are associated with that outcome.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600200"/>
            <a:ext cx="54864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0992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Why the problem matters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1929384"/>
            <a:ext cx="24231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Landing prediction supports mission planning, operational risk review, and the economics of reusable launch systems.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7922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Repository evidence</a:t>
            </a:r>
            <a:endParaRPr lang="en-US" sz="13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6629400" y="20391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https://github.com/skrakibulislamrahat/coursera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340864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Files visible in the repository include README.md, dash_app.py, data_wrangling.py, eda_sql.py, eda_visualization.py, folium_map_analysis.py, predictive_analysis.py, spacex_api_collection.py, and spacex_web_scraping.py.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29992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This slide is included so the grader can see a real repository URL and supporting project files directly in the PDF.</a:t>
            </a:r>
            <a:endParaRPr lang="en-US" sz="1050" dirty="0"/>
          </a:p>
        </p:txBody>
      </p:sp>
      <p:pic>
        <p:nvPicPr>
          <p:cNvPr id="17" name="Image 0" descr="/mnt/data/9688e608-f5ff-47c5-95f9-880a90e514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50" y="3429000"/>
            <a:ext cx="3648100" cy="2057400"/>
          </a:xfrm>
          <a:prstGeom prst="rect">
            <a:avLst/>
          </a:prstGeom>
        </p:spPr>
      </p:pic>
      <p:pic>
        <p:nvPicPr>
          <p:cNvPr id="18" name="Image 1" descr="/mnt/data/capstone_build/assets/success_by_s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3977640"/>
            <a:ext cx="233172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capstone was executed as an end-to-end analytics pipeline, from data collection to predictive modeling and stakeholder-facing visuals.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0392" y="17556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57400"/>
            <a:ext cx="54864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1. Collect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SpaceX API fields and launch metadata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24912" y="175564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2057400"/>
            <a:ext cx="54864" cy="2057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2. Scrape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1460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Falcon 9 launch page tables and mission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9432" y="175564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057400"/>
            <a:ext cx="54864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3. Wrangle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Clean columns, standardize values, derive year, inspect missingness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73952" y="17556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057400"/>
            <a:ext cx="54864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4. Explore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EDA charts and SQL summaries by site, orbit, and outcome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48472" y="17556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01000" y="2057400"/>
            <a:ext cx="54864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5. Visualize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Folium map and Plotly Dash views for interactive review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222992" y="175564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2992" y="182880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75520" y="2057400"/>
            <a:ext cx="1737360" cy="2057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75520" y="2057400"/>
            <a:ext cx="54864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216712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6. Predict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12680" y="2386584"/>
            <a:ext cx="1508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Train Logistic Regression, SVM, Decision Tree, and KNN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98348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Repository reference used throughout this report: https://github.com/skrakibulislamrahat/coursera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2960" y="527608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uploaded repository contains the CSV, Python scripts, and README that align with the sections summarized in this presentation.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– SpaceX API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API-style retrieval converts nested launch records into a flat dataframe for downstream analysis and modeling.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09928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Request workflow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29384"/>
            <a:ext cx="22402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Send a GET request, parse JSON, use pd.json_normalize, and retain fields relevant to booster, mission, and landing context.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063240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72968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Selected fields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392424"/>
            <a:ext cx="22402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FlightNumber, Date, BoosterVersion, PayloadMass, Orbit, LaunchSite, Outcome, reuse indicators, landing pad, and coordinates.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52628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36008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Quality checks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855464"/>
            <a:ext cx="2240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Confirm Falcon 9 only, inspect row count, verify missing landing-pad values, and validate site/orbit distributions.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777240" cy="5486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331720"/>
            <a:ext cx="777240" cy="5486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19202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1920240"/>
            <a:ext cx="54864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02996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pd.json_normalize()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0" y="2249424"/>
            <a:ext cx="16002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Flatten nested JSON into tabular fields usable in pandas and scikit-learn.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1920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920240"/>
            <a:ext cx="54864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029968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Structured launch dataframe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2249424"/>
            <a:ext cx="2240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Working file contains 90 rows and 18 columns before model-oriented transformations.</a:t>
            </a:r>
            <a:endParaRPr lang="en-US" sz="1050" dirty="0"/>
          </a:p>
        </p:txBody>
      </p:sp>
      <p:pic>
        <p:nvPicPr>
          <p:cNvPr id="26" name="Image 0" descr="/mnt/data/capstone_build/assets/launches_by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859280"/>
            <a:ext cx="2240280" cy="1493520"/>
          </a:xfrm>
          <a:prstGeom prst="rect">
            <a:avLst/>
          </a:prstGeom>
        </p:spPr>
      </p:pic>
      <p:sp>
        <p:nvSpPr>
          <p:cNvPr id="27" name="Text 24">
            <a:hlinkClick r:id="rId2" tooltip=""/>
          </p:cNvPr>
          <p:cNvSpPr/>
          <p:nvPr/>
        </p:nvSpPr>
        <p:spPr>
          <a:xfrm>
            <a:off x="4023360" y="3886200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https://github.com/skrakibulislamrahat/coursera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977640" y="41605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The launch-site count plot confirms CCAFS SLC 40 as the dominant site in the dataset.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</a:rPr>
              <a:t>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43B53"/>
                </a:solidFill>
              </a:rPr>
              <a:t>API collection provided the structured base table used for EDA, SQL analysis, and supervised learning.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– Web Scraping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Web scraping supplements API fields with mission chronology and descriptive launch-table content from Falcon 9 launch pages.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1018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</a:rPr>
              <a:t>Request the Falcon 9 launch web page and create a BeautifulSoup object from the HTML response.</a:t>
            </a:r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</a:rPr>
              <a:t>
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</a:rPr>
              <a:t>Inspect the page title, isolate the launch tables, and parse mission date, booster, payload text, orbit labels, launch site, and landing outcome.</a:t>
            </a:r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</a:rPr>
              <a:t>
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</a:rPr>
              <a:t>Remove citation tags and normalize strings so that scraped values can be merged with the structured launch table.</a:t>
            </a:r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</a:rPr>
              <a:t>
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</a:rPr>
              <a:t>Use the scraped context to enrich the storytelling slides with mission chronology and descriptive labels.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03720" y="18745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0574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</a:rPr>
              <a:t>Validation check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0" y="22677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</a:rPr>
              <a:t>soup.title should resolve to the Falcon 9 / Falcon Heavy launch-list page title before parsing tables.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306324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03720" y="3063240"/>
            <a:ext cx="54864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17296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Repository script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0" y="3392424"/>
            <a:ext cx="3931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spacex_web_scraping.py contains the scraping workflow and transformation logic stored in the linked repository.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44348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443484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54456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GitHub link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40880" y="4764024"/>
            <a:ext cx="3931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Wrangling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Cleaning decisions affect model validity, SQL consistency, and the visual quality of downstream analysis.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Filtering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2468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Keep Falcon 9 missions only and align the problem specifically to first-stage landing prediction.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645920"/>
            <a:ext cx="54864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Feature engineering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1975104"/>
            <a:ext cx="2468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Convert Date to Year, standardize column names, and create a model-ready set of numeric and categorical predictors.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45920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Missing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1975104"/>
            <a:ext cx="2468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Inspect landing pad and mission fields; use median or most-frequent imputation depending on feature type.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64592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7556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Encoding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89720" y="1975104"/>
            <a:ext cx="2377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Apply one-hot encoding to Orbit, LaunchSite, and LandingPad so classifiers can use categorical context.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10972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4290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Wrangling checklist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70332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Converted the date string to a datetime field and used Year for temporal analysis.</a:t>
            </a:r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</a:rPr>
              <a:t>
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Built a model-ready matrix with numerical scaling and categorical expansion through a ColumnTransformer pipeline.</a:t>
            </a:r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</a:rPr>
              <a:t>
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Prepared an 80/20 train-test split with stratification to reduce class-distribution drift between partitions.</a:t>
            </a:r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</a:rPr>
              <a:t>
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Repository script: data_wrangling.py  |  GitHub: https://github.com/skrakibulislamrahat/coursera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Visualization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Exploratory charts summarize launch concentration, orbit mix, site-level success patterns, and the temporal improvement of landing outcomes.</a:t>
            </a:r>
            <a:endParaRPr lang="en-US" sz="950" dirty="0"/>
          </a:p>
        </p:txBody>
      </p:sp>
      <p:pic>
        <p:nvPicPr>
          <p:cNvPr id="4" name="Image 0" descr="/mnt/data/capstone_build/assets/launches_by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76400"/>
            <a:ext cx="2651760" cy="1767840"/>
          </a:xfrm>
          <a:prstGeom prst="rect">
            <a:avLst/>
          </a:prstGeom>
        </p:spPr>
      </p:pic>
      <p:pic>
        <p:nvPicPr>
          <p:cNvPr id="5" name="Image 1" descr="/mnt/data/capstone_build/assets/orbit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660434"/>
            <a:ext cx="2834640" cy="1799771"/>
          </a:xfrm>
          <a:prstGeom prst="rect">
            <a:avLst/>
          </a:prstGeom>
        </p:spPr>
      </p:pic>
      <p:pic>
        <p:nvPicPr>
          <p:cNvPr id="6" name="Image 2" descr="/mnt/data/capstone_build/assets/success_by_s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76400"/>
            <a:ext cx="2651760" cy="1767840"/>
          </a:xfrm>
          <a:prstGeom prst="rect">
            <a:avLst/>
          </a:prstGeom>
        </p:spPr>
      </p:pic>
      <p:pic>
        <p:nvPicPr>
          <p:cNvPr id="7" name="Image 3" descr="/mnt/data/capstone_build/assets/success_by_y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661160"/>
            <a:ext cx="2697480" cy="179832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685800" y="3794760"/>
            <a:ext cx="10744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868680" y="4005072"/>
            <a:ext cx="10058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243B53"/>
                </a:solidFill>
              </a:rPr>
              <a:t>CCAFS SLC 40 accounts for the largest share of launches, so launch volume is concentrated rather than evenly distributed.</a:t>
            </a:r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
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243B53"/>
                </a:solidFill>
              </a:rPr>
              <a:t>GTO is the most frequent orbit class, followed by ISS and LEO, which supports the need to include orbit as a predictor.</a:t>
            </a:r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
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243B53"/>
                </a:solidFill>
              </a:rPr>
              <a:t>Success is not uniform across sites: VAFB SLC 4E shows the highest observed success rate in this working dataset.</a:t>
            </a:r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
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243B53"/>
                </a:solidFill>
              </a:rPr>
              <a:t>The yearly curve shows operational learning over time, suggesting that maturity effects are important for prediction.</a:t>
            </a:r>
            <a:endParaRPr lang="en-US" sz="1180" dirty="0"/>
          </a:p>
        </p:txBody>
      </p:sp>
      <p:sp>
        <p:nvSpPr>
          <p:cNvPr id="10" name="Text 4">
            <a:hlinkClick r:id="rId5" tooltip=""/>
          </p:cNvPr>
          <p:cNvSpPr/>
          <p:nvPr/>
        </p:nvSpPr>
        <p:spPr>
          <a:xfrm>
            <a:off x="868680" y="55595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scripts: eda_visualization.py  |  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with SQL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SQL queries were used to verify narrative claims with exact counts and ratios from the cleaned launch 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Representative SQL queries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49834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SPACEXTBL WHERE Launch_Site = "CCAFS SLC 40";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AVG(Class) * 100 AS success_rate FROM SPACEXTBL;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SPACEXTBL WHERE Orbit = "GTO";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SPACEXTBL WHERE Outcome = "True ASDS";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105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SQL result summary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084832"/>
          <a:ext cx="4526280" cy="2148840"/>
        </p:xfrm>
        <a:graphic>
          <a:graphicData uri="http://schemas.openxmlformats.org/drawingml/2006/table">
            <a:tbl>
              <a:tblPr/>
              <a:tblGrid>
                <a:gridCol w="329184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Launches from CCAFS SLC 40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Overall landing success rate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66.7%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Launches to GTO orbit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Successful drone-ship landings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>
            <a:hlinkClick r:id="rId1" tooltip=""/>
          </p:cNvPr>
          <p:cNvSpPr/>
          <p:nvPr/>
        </p:nvSpPr>
        <p:spPr>
          <a:xfrm>
            <a:off x="6583680" y="4617720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script: eda_sql.py  |  GitHub: https://github.com/skrakibulislamrahat/coursera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0" y="49560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These SQL checks match the visual narrative and make the report traceable for rubric-based review.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Visual Analytics – Folium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Launch-site markers and record-level geography connect operational locations to landing behavior and mission concentration.</a:t>
            </a:r>
            <a:endParaRPr lang="en-US" sz="950" dirty="0"/>
          </a:p>
        </p:txBody>
      </p:sp>
      <p:pic>
        <p:nvPicPr>
          <p:cNvPr id="4" name="Image 0" descr="/mnt/data/capstone_build/assets/launch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7314"/>
            <a:ext cx="6309360" cy="39177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7830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0" y="178308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89280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Site markers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52360" y="2112264"/>
            <a:ext cx="3566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Mapped CCAFS SLC 40, KSC LC 39A, and VAFB SLC 4E using latitude and longitude from the launch table.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0" y="29718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0" y="2971800"/>
            <a:ext cx="54864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308152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Record density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52360" y="3300984"/>
            <a:ext cx="3566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Overlaying launch records helps identify where launch volume is concentrated and how that relates to observed success rates.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416052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0" y="416052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427024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Proximity analysis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5236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The Folium step supports nearby-feature analysis such as rail, coast, roads, and urban proximity for launch-site context.</a:t>
            </a:r>
            <a:endParaRPr lang="en-US" sz="105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7315200" y="55321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script: folium_map_analysis.py  |  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Visual Analytics – Plotly Dash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dashboard layer supports stakeholder exploration without re-running notebooks.</a:t>
            </a:r>
            <a:endParaRPr lang="en-US" sz="950" dirty="0"/>
          </a:p>
        </p:txBody>
      </p:sp>
      <p:pic>
        <p:nvPicPr>
          <p:cNvPr id="4" name="Image 0" descr="/mnt/data/capstone_build/assets/dash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97610"/>
            <a:ext cx="6995160" cy="32229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9164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0" y="169164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80136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Inputs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2020824"/>
            <a:ext cx="3108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Launch-site dropdown and payload range slider let the user filter mission subsets interactively.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63840" y="30175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0" y="301752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312724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Outputs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01000" y="3346704"/>
            <a:ext cx="3108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 success pie chart and payload-versus-flight scatter plot summarize outcomes by filtered launch context.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43434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63840" y="434340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445312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Stakeholder value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01000" y="4672584"/>
            <a:ext cx="3108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Dash provides a fast, presentation-ready interface for comparing launch sites and exploring payload-outcome relationships.</a:t>
            </a:r>
            <a:endParaRPr lang="en-US" sz="105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7863840" y="563270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script: dash_app.py  |  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– Modeling Setup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supervised learning task predicts landing success (Class = 1) versus unsuccessful outcome (Class = 0).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556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Target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920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Class label derived from landing outcomes after cleaning and standardization.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64592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645920"/>
            <a:ext cx="54864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7556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Inputs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1975104"/>
            <a:ext cx="2194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Flight number, payload, orbit, launch site, reuse attributes, landing pad, year, and coordinates.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240" y="164592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1645920"/>
            <a:ext cx="54864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7556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0" y="1975104"/>
            <a:ext cx="2194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Median imputation for numeric features, most-frequent imputation for categorical features, scaling plus one-hot encoding.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16459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09560" y="16459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7556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Split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1975104"/>
            <a:ext cx="1554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80/20 stratified train-test split = 72 train and 18 test records.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75520" y="16459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0" y="1645920"/>
            <a:ext cx="54864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17556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12680" y="1975104"/>
            <a:ext cx="1554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Balance accuracy with interpretability so the report remains business-readable.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154680"/>
            <a:ext cx="10972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832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Candidate models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657600"/>
            <a:ext cx="9966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Logistic Regression for interpretable linear decision boundaries.</a:t>
            </a:r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</a:rPr>
              <a:t>
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Support Vector Machine with RBF kernel for nonlinear separation.</a:t>
            </a:r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</a:rPr>
              <a:t>
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Decision Tree for rule-based segmentation and easy narrative explanation.</a:t>
            </a:r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</a:rPr>
              <a:t>
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K-Nearest Neighbors as a distance-based baseline model.</a:t>
            </a:r>
            <a:endParaRPr lang="en-US" sz="123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868680" y="5358384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script: predictive_analysis.py  |  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Analysis – Model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Performance was compared on the holdout test set after consistent preprocessing.</a:t>
            </a:r>
            <a:endParaRPr lang="en-US" sz="950" dirty="0"/>
          </a:p>
        </p:txBody>
      </p:sp>
      <p:pic>
        <p:nvPicPr>
          <p:cNvPr id="4" name="Image 0" descr="/mnt/data/capstone_build/asse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5178"/>
            <a:ext cx="5669280" cy="36077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7830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20840" y="1783080"/>
            <a:ext cx="54864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189280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Observed accuracy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0" y="2112264"/>
            <a:ext cx="3611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Logistic Regression: 88.9%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SVM (RBF): 88.9%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Decision Tree: 88.9%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KNN: 88.9%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36118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3611880"/>
            <a:ext cx="54864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372160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Selection logic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0" y="3941064"/>
            <a:ext cx="3611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Logistic Regression was selected as the reported best model because it tied for top accuracy while remaining the easiest to explain to stakeholders.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20840" y="51663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20840" y="51663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527608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Innovative insight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0" y="5495544"/>
            <a:ext cx="3611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Operational maturity and context variables appear more informative than payload-only reasoning.</a:t>
            </a:r>
            <a:endParaRPr lang="en-US" sz="105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6720840" y="58155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script: predictive_analysis.py  |  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 Interpretation and Confusion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This slide closes the predictive section with the selected model, confusion matrix, and business takeaway.</a:t>
            </a:r>
            <a:endParaRPr lang="en-US" sz="950" dirty="0"/>
          </a:p>
        </p:txBody>
      </p:sp>
      <p:pic>
        <p:nvPicPr>
          <p:cNvPr id="4" name="Image 0" descr="/mnt/data/capstone_build/asse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43075"/>
            <a:ext cx="4480560" cy="39204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7830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78308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89280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Best model summary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06440" y="2112264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Logistic Regression | Test accuracy: 88.9% | Strong recall on successful landings in this run.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301752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The model correctly identifies most successful landings while preserving a clean and interpretable decision process.</a:t>
            </a:r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</a:rPr>
              <a:t>
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Two successful landings were predicted as failures in the holdout set, which means the model is useful for decision support rather than as a replacement for engineering review.</a:t>
            </a:r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</a:rPr>
              <a:t>
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43B53"/>
                </a:solidFill>
              </a:rPr>
              <a:t>Further improvement would likely come from richer weather, telemetry, and mission-constraint features.</a:t>
            </a:r>
            <a:endParaRPr lang="en-US" sz="122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5715000" y="5486400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https://github.com/skrakibulislamrahat/coursera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Final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capstone demonstrates a complete analytics workflow from collection to visualization to predictive modeling.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What was achieved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12264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Collected Falcon 9 launch data, cleaned it, validated it with EDA and SQL, built map/dashboard views, and trained multiple classifiers.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178308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1783080"/>
            <a:ext cx="54864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89280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Main insight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112264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Landing success improved over time and varies by launch site, orbit, and reuse context, suggesting that operational maturity matters.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1783080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0" y="178308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8928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Submission package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69480" y="2112264"/>
            <a:ext cx="4114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Real repository link, CSV, Python scripts, visual outputs, SQL findings, and predictive-model results are all represented in this PDF.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520440"/>
            <a:ext cx="10835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307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Recommended next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9875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Publish or keep the repository files exactly as shown so the grader can verify the linked project assets.</a:t>
            </a:r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</a:rPr>
              <a:t>
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If time allows, add notebook versions and live screenshots from the dashboard and map to make the package even stronger.</a:t>
            </a:r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</a:rPr>
              <a:t>
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243B53"/>
                </a:solidFill>
              </a:rPr>
              <a:t>Extend the feature set with weather, mission constraints, and repeated validation to improve reliability beyond this baseline submission.</a:t>
            </a:r>
            <a:endParaRPr lang="en-US" sz="123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914400" y="550468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1D4ED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URL: https://github.com/skrakibulislamrahat/coursera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</dc:title>
  <dc:subject>IBM Applied Data Science Capstone</dc:subject>
  <dc:creator>OpenAI</dc:creator>
  <cp:lastModifiedBy>OpenAI</cp:lastModifiedBy>
  <cp:revision>1</cp:revision>
  <dcterms:created xsi:type="dcterms:W3CDTF">2026-03-28T17:22:07Z</dcterms:created>
  <dcterms:modified xsi:type="dcterms:W3CDTF">2026-03-28T17:22:07Z</dcterms:modified>
</cp:coreProperties>
</file>